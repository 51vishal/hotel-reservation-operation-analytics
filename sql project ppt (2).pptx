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  <p:sldId id="269" r:id="rId11"/>
    <p:sldId id="270" r:id="rId12"/>
    <p:sldId id="271" r:id="rId13"/>
    <p:sldId id="266" r:id="rId14"/>
    <p:sldId id="267" r:id="rId15"/>
    <p:sldId id="268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68104-DE3F-4F8C-B9DF-A8219CD1816F}" v="9" dt="2026-09-07T10:28:5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a sri uppu" userId="52447b2075235fe0" providerId="LiveId" clId="{7F52AD5E-645D-48B7-9B96-1EF480CA9DD9}"/>
    <pc:docChg chg="modSld">
      <pc:chgData name="srujana sri uppu" userId="52447b2075235fe0" providerId="LiveId" clId="{7F52AD5E-645D-48B7-9B96-1EF480CA9DD9}" dt="2026-09-07T10:32:26.551" v="104" actId="14100"/>
      <pc:docMkLst>
        <pc:docMk/>
      </pc:docMkLst>
      <pc:sldChg chg="modSp mod">
        <pc:chgData name="srujana sri uppu" userId="52447b2075235fe0" providerId="LiveId" clId="{7F52AD5E-645D-48B7-9B96-1EF480CA9DD9}" dt="2026-09-07T10:31:15.312" v="103" actId="14100"/>
        <pc:sldMkLst>
          <pc:docMk/>
          <pc:sldMk cId="0" sldId="256"/>
        </pc:sldMkLst>
        <pc:picChg chg="mod">
          <ac:chgData name="srujana sri uppu" userId="52447b2075235fe0" providerId="LiveId" clId="{7F52AD5E-645D-48B7-9B96-1EF480CA9DD9}" dt="2026-09-07T10:31:15.312" v="103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rujana sri uppu" userId="52447b2075235fe0" providerId="LiveId" clId="{7F52AD5E-645D-48B7-9B96-1EF480CA9DD9}" dt="2026-09-07T10:28:38.140" v="100" actId="20577"/>
        <pc:sldMkLst>
          <pc:docMk/>
          <pc:sldMk cId="0" sldId="257"/>
        </pc:sldMkLst>
        <pc:spChg chg="mod">
          <ac:chgData name="srujana sri uppu" userId="52447b2075235fe0" providerId="LiveId" clId="{7F52AD5E-645D-48B7-9B96-1EF480CA9DD9}" dt="2026-09-07T10:28:38.140" v="100" actId="20577"/>
          <ac:spMkLst>
            <pc:docMk/>
            <pc:sldMk cId="0" sldId="257"/>
            <ac:spMk id="2" creationId="{0138F777-CD89-7066-DFF1-0C9BF6F949E6}"/>
          </ac:spMkLst>
        </pc:spChg>
        <pc:spChg chg="mod">
          <ac:chgData name="srujana sri uppu" userId="52447b2075235fe0" providerId="LiveId" clId="{7F52AD5E-645D-48B7-9B96-1EF480CA9DD9}" dt="2026-09-07T10:24:07.481" v="89" actId="20577"/>
          <ac:spMkLst>
            <pc:docMk/>
            <pc:sldMk cId="0" sldId="257"/>
            <ac:spMk id="3" creationId="{F0AC247A-CBEB-369B-FF7B-7EF083A78D09}"/>
          </ac:spMkLst>
        </pc:spChg>
        <pc:spChg chg="mod">
          <ac:chgData name="srujana sri uppu" userId="52447b2075235fe0" providerId="LiveId" clId="{7F52AD5E-645D-48B7-9B96-1EF480CA9DD9}" dt="2026-09-07T10:25:21.510" v="95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srujana sri uppu" userId="52447b2075235fe0" providerId="LiveId" clId="{7F52AD5E-645D-48B7-9B96-1EF480CA9DD9}" dt="2026-09-07T10:26:56.112" v="97" actId="1036"/>
        <pc:sldMkLst>
          <pc:docMk/>
          <pc:sldMk cId="3869289001" sldId="262"/>
        </pc:sldMkLst>
        <pc:spChg chg="mod">
          <ac:chgData name="srujana sri uppu" userId="52447b2075235fe0" providerId="LiveId" clId="{7F52AD5E-645D-48B7-9B96-1EF480CA9DD9}" dt="2026-09-07T10:26:56.112" v="97" actId="1036"/>
          <ac:spMkLst>
            <pc:docMk/>
            <pc:sldMk cId="3869289001" sldId="262"/>
            <ac:spMk id="3" creationId="{D6821BD3-9C7D-A32C-495C-6FC16B016B97}"/>
          </ac:spMkLst>
        </pc:spChg>
      </pc:sldChg>
      <pc:sldChg chg="modSp mod">
        <pc:chgData name="srujana sri uppu" userId="52447b2075235fe0" providerId="LiveId" clId="{7F52AD5E-645D-48B7-9B96-1EF480CA9DD9}" dt="2026-09-07T10:32:26.551" v="104" actId="14100"/>
        <pc:sldMkLst>
          <pc:docMk/>
          <pc:sldMk cId="4072362031" sldId="263"/>
        </pc:sldMkLst>
        <pc:spChg chg="mod">
          <ac:chgData name="srujana sri uppu" userId="52447b2075235fe0" providerId="LiveId" clId="{7F52AD5E-645D-48B7-9B96-1EF480CA9DD9}" dt="2026-09-07T10:32:26.551" v="104" actId="14100"/>
          <ac:spMkLst>
            <pc:docMk/>
            <pc:sldMk cId="4072362031" sldId="263"/>
            <ac:spMk id="3" creationId="{D4166CEF-25AA-AF40-A124-08845A4689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rakashvipparthi-hub" TargetMode="External"/><Relationship Id="rId3" Type="http://schemas.openxmlformats.org/officeDocument/2006/relationships/hyperlink" Target="https://www.linkedin.com/in/yadla-gopi-vishal-737459378" TargetMode="External"/><Relationship Id="rId7" Type="http://schemas.openxmlformats.org/officeDocument/2006/relationships/hyperlink" Target="https://www.linkedin.com/in/prakash-vipparthi-05884835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rshith123-26" TargetMode="External"/><Relationship Id="rId5" Type="http://schemas.openxmlformats.org/officeDocument/2006/relationships/hyperlink" Target="https://www.linkedin.com/in/ketha-j-harshith-857b85265" TargetMode="External"/><Relationship Id="rId4" Type="http://schemas.openxmlformats.org/officeDocument/2006/relationships/hyperlink" Target="https://github.com/51visha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" y="0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9085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/>
              <a:t>Hotel Reservation Operations Analytics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18162" y="2294852"/>
            <a:ext cx="345440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Gopi V</a:t>
            </a: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ishal Yadla</a:t>
            </a: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 B.Tech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Experience: Fresher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</a:t>
            </a:r>
          </a:p>
          <a:p>
            <a:pPr>
              <a:buClr>
                <a:schemeClr val="dk1"/>
              </a:buClr>
              <a:buSzPts val="2400"/>
            </a:pPr>
            <a:r>
              <a:rPr lang="fi-FI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https://www.linkedin.com/in/yadla-gopi-vishal-737459378</a:t>
            </a:r>
            <a:endParaRPr lang="fi-FI" sz="16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fi-FI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GitHub:- 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fi-FI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https://github.com/51vishal</a:t>
            </a:r>
            <a:endParaRPr lang="fi-FI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16562" y="833114"/>
            <a:ext cx="111310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4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Meet Team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8F777-CD89-7066-DFF1-0C9BF6F949E6}"/>
              </a:ext>
            </a:extLst>
          </p:cNvPr>
          <p:cNvSpPr txBox="1"/>
          <p:nvPr/>
        </p:nvSpPr>
        <p:spPr>
          <a:xfrm>
            <a:off x="4406747" y="2294852"/>
            <a:ext cx="373471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Ketha J Harshith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 B.Tech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Fresher</a:t>
            </a:r>
          </a:p>
          <a:p>
            <a:endParaRPr lang="en-IN" b="1" dirty="0"/>
          </a:p>
          <a:p>
            <a:r>
              <a:rPr lang="en-IN" b="1" dirty="0"/>
              <a:t>Linkedin:</a:t>
            </a:r>
          </a:p>
          <a:p>
            <a:r>
              <a:rPr lang="en-IN" b="1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https://www.linkedin.com/in/ketha-j-harshith-857b85265</a:t>
            </a:r>
            <a:endParaRPr lang="en-IN" b="1" dirty="0">
              <a:solidFill>
                <a:srgbClr val="0070C0"/>
              </a:solidFill>
            </a:endParaRPr>
          </a:p>
          <a:p>
            <a:r>
              <a:rPr lang="en-IN" b="1" dirty="0"/>
              <a:t>GitHub:-</a:t>
            </a:r>
          </a:p>
          <a:p>
            <a:r>
              <a:rPr lang="en-IN" b="1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https://github.com/harshith123-26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C247A-CBEB-369B-FF7B-7EF083A78D09}"/>
              </a:ext>
            </a:extLst>
          </p:cNvPr>
          <p:cNvSpPr txBox="1"/>
          <p:nvPr/>
        </p:nvSpPr>
        <p:spPr>
          <a:xfrm>
            <a:off x="8219440" y="2294852"/>
            <a:ext cx="36602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Vipparthi Prakash</a:t>
            </a:r>
          </a:p>
          <a:p>
            <a:endParaRPr lang="en-IN" b="1" dirty="0"/>
          </a:p>
          <a:p>
            <a:r>
              <a:rPr lang="en-IN" b="1" dirty="0"/>
              <a:t>Background: B.Tech</a:t>
            </a:r>
          </a:p>
          <a:p>
            <a:endParaRPr lang="en-IN" b="1" dirty="0"/>
          </a:p>
          <a:p>
            <a:r>
              <a:rPr lang="en-IN" b="1" dirty="0"/>
              <a:t>Experience: Fresher</a:t>
            </a:r>
          </a:p>
          <a:p>
            <a:endParaRPr lang="en-IN" b="1" dirty="0"/>
          </a:p>
          <a:p>
            <a:r>
              <a:rPr lang="en-IN" b="1" dirty="0"/>
              <a:t>Linkedin:</a:t>
            </a:r>
          </a:p>
          <a:p>
            <a:r>
              <a:rPr lang="en-IN" b="1" dirty="0">
                <a:hlinkClick r:id="rId7"/>
              </a:rPr>
              <a:t>https://www.linkedin.com/in/prakash-vipparthi-058848351</a:t>
            </a:r>
            <a:endParaRPr lang="en-IN" b="1" dirty="0"/>
          </a:p>
          <a:p>
            <a:r>
              <a:rPr lang="en-IN" b="1" dirty="0"/>
              <a:t>GitHub:</a:t>
            </a:r>
          </a:p>
          <a:p>
            <a:r>
              <a:rPr lang="en-IN" b="1" dirty="0">
                <a:hlinkClick r:id="rId8"/>
              </a:rPr>
              <a:t>https://github.com/prakashvipparthi-hub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13275" y="29257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dirty="0">
                <a:solidFill>
                  <a:srgbClr val="FF0000"/>
                </a:solidFill>
              </a:rPr>
              <a:t>   Table of contents 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Project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Scenario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Analysis of the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Overall Key Findings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Recommendations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lang="en-IN"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Q&amp;A</a:t>
            </a:r>
            <a:endParaRPr lang="en-IN" sz="326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D2CD-3EA9-519D-2652-4639E341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E2C15-CA5F-3E4B-BCB7-373AD649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2880"/>
            <a:ext cx="10515600" cy="4724083"/>
          </a:xfrm>
        </p:spPr>
        <p:txBody>
          <a:bodyPr>
            <a:normAutofit/>
          </a:bodyPr>
          <a:lstStyle/>
          <a:p>
            <a:r>
              <a:rPr lang="en-IN" sz="2200" dirty="0"/>
              <a:t>This project focuses on analyzing hotel reservation operations using MySQL. The objective is to convert hotel reservation data into meaningful business insights.</a:t>
            </a:r>
          </a:p>
          <a:p>
            <a:r>
              <a:rPr lang="en-IN" sz="2200" dirty="0"/>
              <a:t>The analysis covers:</a:t>
            </a:r>
          </a:p>
          <a:p>
            <a:pPr lvl="0"/>
            <a:r>
              <a:rPr lang="en-IN" sz="2200" dirty="0"/>
              <a:t>Booking demand </a:t>
            </a:r>
          </a:p>
          <a:p>
            <a:pPr lvl="0"/>
            <a:r>
              <a:rPr lang="en-IN" sz="2200" dirty="0"/>
              <a:t>Guest booking behaviour </a:t>
            </a:r>
          </a:p>
          <a:p>
            <a:pPr lvl="0"/>
            <a:r>
              <a:rPr lang="en-IN" sz="2200" dirty="0"/>
              <a:t>Stay performance </a:t>
            </a:r>
          </a:p>
          <a:p>
            <a:pPr lvl="0"/>
            <a:r>
              <a:rPr lang="en-IN" sz="2200" dirty="0"/>
              <a:t>Staff and room performance </a:t>
            </a:r>
          </a:p>
          <a:p>
            <a:pPr lvl="0"/>
            <a:r>
              <a:rPr lang="en-IN" sz="2200" dirty="0"/>
              <a:t>Booking and stay problems </a:t>
            </a:r>
          </a:p>
          <a:p>
            <a:r>
              <a:rPr lang="en-IN" sz="2200" dirty="0"/>
              <a:t>The project demonstrates the complete process from understanding business requirements to writing SQL queries and interpreting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90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5B6B-9069-C32D-7430-B6B798AB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Scenario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1BD3-9C7D-A32C-495C-6FC16B01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9985"/>
            <a:ext cx="10515600" cy="4718553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StayPoint Hospitality manages multiple hotels and maintains data related to guests, bookings, rooms, stays, and staff. </a:t>
            </a:r>
          </a:p>
          <a:p>
            <a:pPr lvl="0"/>
            <a:r>
              <a:rPr lang="en-IN" sz="2200" dirty="0"/>
              <a:t>The company needs to analyze booking demand across hotels, booking channels, room types, and different time periods. </a:t>
            </a:r>
          </a:p>
          <a:p>
            <a:pPr lvl="0"/>
            <a:r>
              <a:rPr lang="en-IN" sz="2200" dirty="0"/>
              <a:t>It also needs to understand guest booking behaviour, including booking frequency, spending, and differences between guest types. </a:t>
            </a:r>
          </a:p>
          <a:p>
            <a:pPr lvl="0"/>
            <a:r>
              <a:rPr lang="en-IN" sz="2200" dirty="0"/>
              <a:t>The organization wants to evaluate stay, staff, and room performance to improve operational efficiency and resource utilization. </a:t>
            </a:r>
          </a:p>
          <a:p>
            <a:pPr lvl="0"/>
            <a:r>
              <a:rPr lang="en-IN" sz="2200" dirty="0"/>
              <a:t>Finally, the company needs to identify booking and stay problems such as cancellations, no-shows, and high service requests, so that management can take appropriate action.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8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56F7-C0A0-7288-C18E-DB14B844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371634">
              <a:lnSpc>
                <a:spcPct val="70000"/>
              </a:lnSpc>
            </a:pPr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Objectives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6CEF-25AA-AF40-A124-08845A468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9433"/>
            <a:ext cx="10515600" cy="4637530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Analyze booking demand to understand which hotels, booking channels, and room types receive the most bookings. </a:t>
            </a:r>
          </a:p>
          <a:p>
            <a:pPr lvl="0"/>
            <a:r>
              <a:rPr lang="en-IN" sz="2200" dirty="0"/>
              <a:t>Understand guest booking behaviour by studying booking frequency, booking amounts, guest types, and booking patterns. </a:t>
            </a:r>
          </a:p>
          <a:p>
            <a:pPr lvl="0"/>
            <a:r>
              <a:rPr lang="en-IN" sz="2200" dirty="0"/>
              <a:t>Evaluate stay performance by analyzing stay outcomes, duration, status, and performance across different hotels and time periods. </a:t>
            </a:r>
          </a:p>
          <a:p>
            <a:pPr lvl="0"/>
            <a:r>
              <a:rPr lang="en-IN" sz="2200" dirty="0"/>
              <a:t>Measure staff and room performance to understand workload, room usage, and how effectively hotel resources are being utilized. </a:t>
            </a:r>
          </a:p>
          <a:p>
            <a:pPr lvl="0"/>
            <a:r>
              <a:rPr lang="en-IN" sz="2200" dirty="0"/>
              <a:t>Identify booking and stay problems such as cancellations, no-shows, and service requests, and use the findings to support better operational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36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02DD-C7AC-1B77-7602-C9535844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5E603-C469-9E75-C66C-A1648184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202DEE-A41A-06BC-187F-A1625A422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3093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693747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707895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613222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5107585"/>
                    </a:ext>
                  </a:extLst>
                </a:gridCol>
              </a:tblGrid>
              <a:tr h="36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/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35258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guest details and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85204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hotel details and room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08601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room details, types, occupancy, and pricing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60586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guest reservation and booking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0843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check-in, check-out, stay status, and service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257207"/>
                  </a:ext>
                </a:extLst>
              </a:tr>
              <a:tr h="877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staff details, department, rating, and active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56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4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562D-BBFE-3EA0-885A-2872AB34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 fontScale="90000"/>
          </a:bodyPr>
          <a:lstStyle/>
          <a:p>
            <a:pPr marL="457200" lvl="0" indent="-371634">
              <a:lnSpc>
                <a:spcPct val="70000"/>
              </a:lnSpc>
            </a:pPr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184B1-3CFB-EF42-6348-10C0CAD4C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D65EE-189A-D666-4BE3-36C556A7E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08" y="891253"/>
            <a:ext cx="10647392" cy="536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C3F7-F66C-D69D-8531-C8AF12B5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Analysis of the Objectives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55DDF-90CE-FF4C-2212-FDABC7DE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72B9C8-B4F1-05C7-3266-71D3FBC1C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37007"/>
              </p:ext>
            </p:extLst>
          </p:nvPr>
        </p:nvGraphicFramePr>
        <p:xfrm>
          <a:off x="729206" y="1597306"/>
          <a:ext cx="10741306" cy="4664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1699">
                  <a:extLst>
                    <a:ext uri="{9D8B030D-6E8A-4147-A177-3AD203B41FA5}">
                      <a16:colId xmlns:a16="http://schemas.microsoft.com/office/drawing/2014/main" val="2891290039"/>
                    </a:ext>
                  </a:extLst>
                </a:gridCol>
                <a:gridCol w="5429607">
                  <a:extLst>
                    <a:ext uri="{9D8B030D-6E8A-4147-A177-3AD203B41FA5}">
                      <a16:colId xmlns:a16="http://schemas.microsoft.com/office/drawing/2014/main" val="2730577063"/>
                    </a:ext>
                  </a:extLst>
                </a:gridCol>
              </a:tblGrid>
              <a:tr h="37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 Performed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850050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bookings across hotels, booking channels, room types, time periods, and booking amounts to understand booking demand.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454727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Guest Booking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guest booking frequency, total booking amount, activity across hotels, guest types, and booking patterns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348795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Stay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Compared stay outcomes across hotels, examined stay duration, analyzed different stay statuses, and evaluated stay performance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98121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Staff &amp; Room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the number of stays handled by staff, staff performance, stay duration, room usage by room type, and stay performance across rooms.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259706"/>
                  </a:ext>
                </a:extLst>
              </a:tr>
              <a:tr h="64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&amp; Stay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cancellations, no-shows, stay status patterns, service requests, and hotels with higher booking or stay problems.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896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42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F9CA-6022-D1B1-B579-06EAD37F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Which hotels have the highest number of bookings?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9CFE8-828E-F9B1-585A-A7103C3E1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4671"/>
            <a:ext cx="10515600" cy="469229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C4F01-8729-F2BE-DB92-EE9BBD08E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68" y="1582994"/>
            <a:ext cx="4944105" cy="1504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BEC5A6-7CAA-4DBF-4738-698E6AECC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23" y="1582994"/>
            <a:ext cx="3101609" cy="2751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C3F49D-0B1E-5227-DBC7-0DBF4312B118}"/>
              </a:ext>
            </a:extLst>
          </p:cNvPr>
          <p:cNvSpPr txBox="1"/>
          <p:nvPr/>
        </p:nvSpPr>
        <p:spPr>
          <a:xfrm>
            <a:off x="1092899" y="4334052"/>
            <a:ext cx="10155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identifies the hotels with the highest number of bookings and ranks them from most to least booked. It helps understand which hotels are most popular among customers.</a:t>
            </a:r>
          </a:p>
        </p:txBody>
      </p:sp>
    </p:spTree>
    <p:extLst>
      <p:ext uri="{BB962C8B-B14F-4D97-AF65-F5344CB8AC3E}">
        <p14:creationId xmlns:p14="http://schemas.microsoft.com/office/powerpoint/2010/main" val="241324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5329-4A0A-5A7F-030C-89F35870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Which guests have made the highest number of bookings?</a:t>
            </a:r>
            <a:endParaRPr lang="en-IN" sz="3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242E1-5254-C360-407E-EF09A4E9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9" y="1610592"/>
            <a:ext cx="4436106" cy="1818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B27895-910E-5BCB-1720-56D2CFB7D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82" y="1485330"/>
            <a:ext cx="3162176" cy="2486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25D04-AD55-BA15-EB4D-371E35438676}"/>
              </a:ext>
            </a:extLst>
          </p:cNvPr>
          <p:cNvSpPr txBox="1"/>
          <p:nvPr/>
        </p:nvSpPr>
        <p:spPr>
          <a:xfrm>
            <a:off x="957766" y="4939631"/>
            <a:ext cx="102116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identifies the guests who have made the highest number of bookings and ranks them from most to least booked. It helps understand the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frequent customers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hotel.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5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DE07-639E-A1BF-9F0B-23098ED9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How many stays are there for each stay status?</a:t>
            </a:r>
            <a:endParaRPr lang="en-IN" sz="36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921B3-BE6F-F1CD-B57B-3AB0EAC19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7" y="1546936"/>
            <a:ext cx="4048225" cy="1746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F08DBE-DA95-2B8D-445D-38A826B23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402" y="1455174"/>
            <a:ext cx="2758679" cy="1838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15D7CE-ACE5-F7A3-14EA-0E72AF3480E7}"/>
              </a:ext>
            </a:extLst>
          </p:cNvPr>
          <p:cNvSpPr txBox="1"/>
          <p:nvPr/>
        </p:nvSpPr>
        <p:spPr>
          <a:xfrm>
            <a:off x="599768" y="4689987"/>
            <a:ext cx="1011739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shows the number of stays for each status and ranks them from highest to lowest. It helps understand the most common stay statuses in the hotel.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40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74CC-538B-EC13-21CA-2DB4E24C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Overall Key Findings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D3108-E02B-4DFD-9908-EAD5571D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Booking demand:</a:t>
            </a:r>
            <a:r>
              <a:rPr lang="en-IN" sz="2400" dirty="0"/>
              <a:t> The analysis helps identify the hotels, booking channels, and room types with higher booking activity. </a:t>
            </a:r>
          </a:p>
          <a:p>
            <a:pPr lvl="0"/>
            <a:r>
              <a:rPr lang="en-IN" sz="2400" b="1" dirty="0"/>
              <a:t>Guest behaviour:</a:t>
            </a:r>
            <a:r>
              <a:rPr lang="en-IN" sz="2400" dirty="0"/>
              <a:t> The analysis shows differences in guest booking frequency, spending, hotel activity, and behaviour between Individual and Corporate guests. </a:t>
            </a:r>
          </a:p>
          <a:p>
            <a:pPr lvl="0"/>
            <a:r>
              <a:rPr lang="en-IN" sz="2400" b="1" dirty="0"/>
              <a:t>Stay performance:</a:t>
            </a:r>
            <a:r>
              <a:rPr lang="en-IN" sz="2400" dirty="0"/>
              <a:t> Stay outcomes, duration, and different statuses such as Checked-out, No-show, Cancelled, and In-progress can be compared to understand overall stay performance. </a:t>
            </a:r>
          </a:p>
          <a:p>
            <a:pPr lvl="0"/>
            <a:r>
              <a:rPr lang="en-IN" sz="2400" b="1" dirty="0"/>
              <a:t>Staff &amp; room utilization:</a:t>
            </a:r>
            <a:r>
              <a:rPr lang="en-IN" sz="2400" dirty="0"/>
              <a:t> The analysis helps identify staff workload, room usage, and differences in performance across staff members and rooms. </a:t>
            </a:r>
          </a:p>
          <a:p>
            <a:pPr lvl="0"/>
            <a:r>
              <a:rPr lang="en-IN" sz="2400" b="1" dirty="0"/>
              <a:t>Booking &amp; stay problems:</a:t>
            </a:r>
            <a:r>
              <a:rPr lang="en-IN" sz="2400" dirty="0"/>
              <a:t> Cancellations, no-shows, service requests, and hotels with higher problem levels can be identified for further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76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55EA-F7BD-5629-575F-0A90DBF4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CC44D-16F4-2BF6-433D-ADB13D82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4709"/>
            <a:ext cx="10515600" cy="4672254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b="1" dirty="0"/>
              <a:t>Optimize booking channels:</a:t>
            </a:r>
            <a:r>
              <a:rPr lang="en-IN" sz="2400" dirty="0"/>
              <a:t> Focus on the booking channels that generate higher booking activity and regularly monitor their performance. </a:t>
            </a:r>
          </a:p>
          <a:p>
            <a:pPr lvl="0"/>
            <a:r>
              <a:rPr lang="en-IN" sz="2400" b="1" dirty="0"/>
              <a:t>Improve room availability:</a:t>
            </a:r>
            <a:r>
              <a:rPr lang="en-IN" sz="2400" dirty="0"/>
              <a:t> Maintain sufficient availability for room types that have higher demand and use booking trends for better room planning. </a:t>
            </a:r>
          </a:p>
          <a:p>
            <a:pPr lvl="0"/>
            <a:r>
              <a:rPr lang="en-IN" sz="2400" b="1" dirty="0"/>
              <a:t>Understand guest behaviour:</a:t>
            </a:r>
            <a:r>
              <a:rPr lang="en-IN" sz="2400" dirty="0"/>
              <a:t> Use guest booking patterns and spending behaviour to improve customer engagement and provide more suitable services. </a:t>
            </a:r>
          </a:p>
          <a:p>
            <a:pPr lvl="0"/>
            <a:r>
              <a:rPr lang="en-IN" sz="2400" b="1" dirty="0"/>
              <a:t>Improve hotel operations:</a:t>
            </a:r>
            <a:r>
              <a:rPr lang="en-IN" sz="2400" dirty="0"/>
              <a:t> Monitor stay outcomes, staff workload, and room usage to improve operational efficiency and resource utilization. </a:t>
            </a:r>
          </a:p>
          <a:p>
            <a:pPr lvl="0"/>
            <a:r>
              <a:rPr lang="en-IN" sz="2400" b="1" dirty="0"/>
              <a:t>Reduce booking and stay problems:</a:t>
            </a:r>
            <a:r>
              <a:rPr lang="en-IN" sz="2400" dirty="0"/>
              <a:t> Closely monitor cancellations, no-shows, and high service requests, and take corrective actions to improve the overall guest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20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9C51-9C5D-1D92-DD63-301E8367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8E3-087F-8327-3A61-0016ACE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2111"/>
            <a:ext cx="10515600" cy="4764852"/>
          </a:xfrm>
        </p:spPr>
        <p:txBody>
          <a:bodyPr>
            <a:normAutofit fontScale="92500"/>
          </a:bodyPr>
          <a:lstStyle/>
          <a:p>
            <a:pPr lvl="0"/>
            <a:r>
              <a:rPr lang="en-IN" sz="2600" dirty="0"/>
              <a:t>This project demonstrates how hotel reservation data can be </a:t>
            </a:r>
            <a:r>
              <a:rPr lang="en-IN" sz="2600" dirty="0" err="1"/>
              <a:t>analyzed</a:t>
            </a:r>
            <a:r>
              <a:rPr lang="en-IN" sz="2600" dirty="0"/>
              <a:t> using MySQL and SQL to support business decision-making. </a:t>
            </a:r>
          </a:p>
          <a:p>
            <a:pPr lvl="0"/>
            <a:r>
              <a:rPr lang="en-IN" sz="2600" dirty="0"/>
              <a:t>The analysis provides an understanding of booking demand, guest booking behaviour, stay performance, staff performance, and room utilization. </a:t>
            </a:r>
          </a:p>
          <a:p>
            <a:pPr lvl="0"/>
            <a:r>
              <a:rPr lang="en-IN" sz="2600" dirty="0"/>
              <a:t>It also helps identify important operational issues such as cancellations, no-shows, and service requests. </a:t>
            </a:r>
          </a:p>
          <a:p>
            <a:pPr lvl="0"/>
            <a:r>
              <a:rPr lang="en-IN" sz="2600" dirty="0"/>
              <a:t>By connecting the different tables and analyzing the data through SQL queries, we can convert raw reservation data into meaningful business insights. </a:t>
            </a:r>
          </a:p>
          <a:p>
            <a:pPr lvl="0"/>
            <a:r>
              <a:rPr lang="en-IN" sz="2600" dirty="0"/>
              <a:t>Overall, the project shows how a structured, data-driven approach can help StayPoint Hospitality improve its operations, utilize resources effectively, and make better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991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1142</Words>
  <Application>Microsoft Office PowerPoint</Application>
  <PresentationFormat>Widescreen</PresentationFormat>
  <Paragraphs>135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Lato Black</vt:lpstr>
      <vt:lpstr>Libre Baskerville</vt:lpstr>
      <vt:lpstr>Arial</vt:lpstr>
      <vt:lpstr>Calibri</vt:lpstr>
      <vt:lpstr>Office Theme</vt:lpstr>
      <vt:lpstr>PowerPoint Presentation</vt:lpstr>
      <vt:lpstr>PowerPoint Presentation</vt:lpstr>
      <vt:lpstr>   Table of contents  </vt:lpstr>
      <vt:lpstr>Project Overview</vt:lpstr>
      <vt:lpstr>Business Scenario</vt:lpstr>
      <vt:lpstr>Business Objectives</vt:lpstr>
      <vt:lpstr>Dataset &amp; Database Overview</vt:lpstr>
      <vt:lpstr>ER Diagram &amp; Database Structure</vt:lpstr>
      <vt:lpstr>Analysis of the Objectives</vt:lpstr>
      <vt:lpstr>Which hotels have the highest number of bookings?</vt:lpstr>
      <vt:lpstr> Which guests have made the highest number of bookings?</vt:lpstr>
      <vt:lpstr>How many stays are there for each stay status?</vt:lpstr>
      <vt:lpstr>Overall Key Findings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Harshith Ketha</cp:lastModifiedBy>
  <cp:revision>5</cp:revision>
  <dcterms:created xsi:type="dcterms:W3CDTF">2021-02-16T05:19:01Z</dcterms:created>
  <dcterms:modified xsi:type="dcterms:W3CDTF">2026-09-23T05:27:59Z</dcterms:modified>
</cp:coreProperties>
</file>